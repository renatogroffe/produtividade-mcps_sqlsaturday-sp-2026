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4" r:id="rId4"/>
    <p:sldId id="258" r:id="rId5"/>
    <p:sldId id="259" r:id="rId6"/>
    <p:sldId id="272" r:id="rId7"/>
    <p:sldId id="260" r:id="rId8"/>
    <p:sldId id="267" r:id="rId9"/>
    <p:sldId id="268" r:id="rId10"/>
    <p:sldId id="269" r:id="rId11"/>
    <p:sldId id="270" r:id="rId12"/>
    <p:sldId id="271" r:id="rId13"/>
    <p:sldId id="263" r:id="rId14"/>
    <p:sldId id="273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29CA3-A652-4CC2-B136-BD616E31F818}" v="1" dt="2026-03-26T14:22:23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6327"/>
  </p:normalViewPr>
  <p:slideViewPr>
    <p:cSldViewPr snapToGrid="0" showGuides="1">
      <p:cViewPr>
        <p:scale>
          <a:sx n="70" d="100"/>
          <a:sy n="70" d="100"/>
        </p:scale>
        <p:origin x="1166" y="27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6" d="100"/>
          <a:sy n="56" d="100"/>
        </p:scale>
        <p:origin x="306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 Adade" userId="966742d4-5394-4d85-9fa0-7be443cf84e4" providerId="ADAL" clId="{3560FF88-263F-4A0D-AE33-291A4B966B16}"/>
    <pc:docChg chg="custSel modSld modMainMaster">
      <pc:chgData name="Marcelo  Adade" userId="966742d4-5394-4d85-9fa0-7be443cf84e4" providerId="ADAL" clId="{3560FF88-263F-4A0D-AE33-291A4B966B16}" dt="2026-03-26T14:23:09.928" v="32" actId="1076"/>
      <pc:docMkLst>
        <pc:docMk/>
      </pc:docMkLst>
      <pc:sldChg chg="modSp mod">
        <pc:chgData name="Marcelo  Adade" userId="966742d4-5394-4d85-9fa0-7be443cf84e4" providerId="ADAL" clId="{3560FF88-263F-4A0D-AE33-291A4B966B16}" dt="2026-03-26T14:23:09.928" v="32" actId="1076"/>
        <pc:sldMkLst>
          <pc:docMk/>
          <pc:sldMk cId="27970633" sldId="257"/>
        </pc:sldMkLst>
        <pc:spChg chg="mod">
          <ac:chgData name="Marcelo  Adade" userId="966742d4-5394-4d85-9fa0-7be443cf84e4" providerId="ADAL" clId="{3560FF88-263F-4A0D-AE33-291A4B966B16}" dt="2026-03-26T14:23:09.928" v="32" actId="1076"/>
          <ac:spMkLst>
            <pc:docMk/>
            <pc:sldMk cId="27970633" sldId="257"/>
            <ac:spMk id="3" creationId="{D2A68380-CC4A-70C4-D013-5B99DCA66FAD}"/>
          </ac:spMkLst>
        </pc:spChg>
        <pc:spChg chg="mod">
          <ac:chgData name="Marcelo  Adade" userId="966742d4-5394-4d85-9fa0-7be443cf84e4" providerId="ADAL" clId="{3560FF88-263F-4A0D-AE33-291A4B966B16}" dt="2026-03-26T14:23:06.503" v="31" actId="1076"/>
          <ac:spMkLst>
            <pc:docMk/>
            <pc:sldMk cId="27970633" sldId="257"/>
            <ac:spMk id="6" creationId="{27EBB592-FBA2-7F43-BED2-22EAB2CE9586}"/>
          </ac:spMkLst>
        </pc:spChg>
      </pc:sldChg>
      <pc:sldChg chg="addSp delSp modSp mod">
        <pc:chgData name="Marcelo  Adade" userId="966742d4-5394-4d85-9fa0-7be443cf84e4" providerId="ADAL" clId="{3560FF88-263F-4A0D-AE33-291A4B966B16}" dt="2026-03-26T14:22:49.889" v="30" actId="1076"/>
        <pc:sldMkLst>
          <pc:docMk/>
          <pc:sldMk cId="3729887113" sldId="258"/>
        </pc:sldMkLst>
        <pc:spChg chg="del">
          <ac:chgData name="Marcelo  Adade" userId="966742d4-5394-4d85-9fa0-7be443cf84e4" providerId="ADAL" clId="{3560FF88-263F-4A0D-AE33-291A4B966B16}" dt="2026-03-26T14:17:13.052" v="2" actId="478"/>
          <ac:spMkLst>
            <pc:docMk/>
            <pc:sldMk cId="3729887113" sldId="258"/>
            <ac:spMk id="2" creationId="{D7029DA1-C977-F64D-C861-B011DFCD6198}"/>
          </ac:spMkLst>
        </pc:spChg>
        <pc:spChg chg="add del mod">
          <ac:chgData name="Marcelo  Adade" userId="966742d4-5394-4d85-9fa0-7be443cf84e4" providerId="ADAL" clId="{3560FF88-263F-4A0D-AE33-291A4B966B16}" dt="2026-03-26T14:17:46.712" v="3" actId="478"/>
          <ac:spMkLst>
            <pc:docMk/>
            <pc:sldMk cId="3729887113" sldId="258"/>
            <ac:spMk id="4" creationId="{D41C04D2-2190-946B-F2C1-2B62CEBE52BF}"/>
          </ac:spMkLst>
        </pc:spChg>
        <pc:picChg chg="del mod">
          <ac:chgData name="Marcelo  Adade" userId="966742d4-5394-4d85-9fa0-7be443cf84e4" providerId="ADAL" clId="{3560FF88-263F-4A0D-AE33-291A4B966B16}" dt="2026-03-26T14:17:06.536" v="1" actId="478"/>
          <ac:picMkLst>
            <pc:docMk/>
            <pc:sldMk cId="3729887113" sldId="258"/>
            <ac:picMk id="6" creationId="{A2D19566-6187-5D48-B238-A9C6CC5F61B5}"/>
          </ac:picMkLst>
        </pc:picChg>
        <pc:picChg chg="add mod">
          <ac:chgData name="Marcelo  Adade" userId="966742d4-5394-4d85-9fa0-7be443cf84e4" providerId="ADAL" clId="{3560FF88-263F-4A0D-AE33-291A4B966B16}" dt="2026-03-26T14:22:49.889" v="30" actId="1076"/>
          <ac:picMkLst>
            <pc:docMk/>
            <pc:sldMk cId="3729887113" sldId="258"/>
            <ac:picMk id="7" creationId="{80F394CF-6EC9-1780-FFC7-D4219F475725}"/>
          </ac:picMkLst>
        </pc:picChg>
      </pc:sldChg>
      <pc:sldMasterChg chg="modSldLayout">
        <pc:chgData name="Marcelo  Adade" userId="966742d4-5394-4d85-9fa0-7be443cf84e4" providerId="ADAL" clId="{3560FF88-263F-4A0D-AE33-291A4B966B16}" dt="2026-03-26T14:22:28.952" v="23" actId="1076"/>
        <pc:sldMasterMkLst>
          <pc:docMk/>
          <pc:sldMasterMk cId="3439491168" sldId="2147483648"/>
        </pc:sldMasterMkLst>
        <pc:sldLayoutChg chg="addSp delSp modSp mod">
          <pc:chgData name="Marcelo  Adade" userId="966742d4-5394-4d85-9fa0-7be443cf84e4" providerId="ADAL" clId="{3560FF88-263F-4A0D-AE33-291A4B966B16}" dt="2026-03-26T14:22:28.952" v="23" actId="1076"/>
          <pc:sldLayoutMkLst>
            <pc:docMk/>
            <pc:sldMasterMk cId="3439491168" sldId="2147483648"/>
            <pc:sldLayoutMk cId="3787240098" sldId="2147483650"/>
          </pc:sldLayoutMkLst>
          <pc:spChg chg="mod">
            <ac:chgData name="Marcelo  Adade" userId="966742d4-5394-4d85-9fa0-7be443cf84e4" providerId="ADAL" clId="{3560FF88-263F-4A0D-AE33-291A4B966B16}" dt="2026-03-26T14:22:23.196" v="22"/>
            <ac:spMkLst>
              <pc:docMk/>
              <pc:sldMasterMk cId="3439491168" sldId="2147483648"/>
              <pc:sldLayoutMk cId="3787240098" sldId="2147483650"/>
              <ac:spMk id="8" creationId="{F9827AF2-2F64-BA27-5C8F-95FBCE15C7F6}"/>
            </ac:spMkLst>
          </pc:spChg>
          <pc:spChg chg="mod">
            <ac:chgData name="Marcelo  Adade" userId="966742d4-5394-4d85-9fa0-7be443cf84e4" providerId="ADAL" clId="{3560FF88-263F-4A0D-AE33-291A4B966B16}" dt="2026-03-26T14:22:23.196" v="22"/>
            <ac:spMkLst>
              <pc:docMk/>
              <pc:sldMasterMk cId="3439491168" sldId="2147483648"/>
              <pc:sldLayoutMk cId="3787240098" sldId="2147483650"/>
              <ac:spMk id="10" creationId="{4F41CFA8-42AC-2127-0BD5-82A2B2E5B62A}"/>
            </ac:spMkLst>
          </pc:spChg>
          <pc:spChg chg="mod">
            <ac:chgData name="Marcelo  Adade" userId="966742d4-5394-4d85-9fa0-7be443cf84e4" providerId="ADAL" clId="{3560FF88-263F-4A0D-AE33-291A4B966B16}" dt="2026-03-26T14:22:23.196" v="22"/>
            <ac:spMkLst>
              <pc:docMk/>
              <pc:sldMasterMk cId="3439491168" sldId="2147483648"/>
              <pc:sldLayoutMk cId="3787240098" sldId="2147483650"/>
              <ac:spMk id="11" creationId="{93A228AA-2E1B-8CCC-484F-8DFA482860E7}"/>
            </ac:spMkLst>
          </pc:spChg>
          <pc:spChg chg="mod">
            <ac:chgData name="Marcelo  Adade" userId="966742d4-5394-4d85-9fa0-7be443cf84e4" providerId="ADAL" clId="{3560FF88-263F-4A0D-AE33-291A4B966B16}" dt="2026-03-26T14:22:23.196" v="22"/>
            <ac:spMkLst>
              <pc:docMk/>
              <pc:sldMasterMk cId="3439491168" sldId="2147483648"/>
              <pc:sldLayoutMk cId="3787240098" sldId="2147483650"/>
              <ac:spMk id="12" creationId="{1DE59663-E385-9216-0378-ACC0DCA04159}"/>
            </ac:spMkLst>
          </pc:spChg>
          <pc:spChg chg="mod">
            <ac:chgData name="Marcelo  Adade" userId="966742d4-5394-4d85-9fa0-7be443cf84e4" providerId="ADAL" clId="{3560FF88-263F-4A0D-AE33-291A4B966B16}" dt="2026-03-26T14:22:23.196" v="22"/>
            <ac:spMkLst>
              <pc:docMk/>
              <pc:sldMasterMk cId="3439491168" sldId="2147483648"/>
              <pc:sldLayoutMk cId="3787240098" sldId="2147483650"/>
              <ac:spMk id="13" creationId="{8835B008-E098-937C-1EA3-5C3CB9748691}"/>
            </ac:spMkLst>
          </pc:spChg>
          <pc:spChg chg="mod">
            <ac:chgData name="Marcelo  Adade" userId="966742d4-5394-4d85-9fa0-7be443cf84e4" providerId="ADAL" clId="{3560FF88-263F-4A0D-AE33-291A4B966B16}" dt="2026-03-26T14:22:23.196" v="22"/>
            <ac:spMkLst>
              <pc:docMk/>
              <pc:sldMasterMk cId="3439491168" sldId="2147483648"/>
              <pc:sldLayoutMk cId="3787240098" sldId="2147483650"/>
              <ac:spMk id="14" creationId="{6993CAF6-D46C-3F70-AD5B-7AE590B62D7D}"/>
            </ac:spMkLst>
          </pc:spChg>
          <pc:grpChg chg="add mod">
            <ac:chgData name="Marcelo  Adade" userId="966742d4-5394-4d85-9fa0-7be443cf84e4" providerId="ADAL" clId="{3560FF88-263F-4A0D-AE33-291A4B966B16}" dt="2026-03-26T14:22:23.196" v="22"/>
            <ac:grpSpMkLst>
              <pc:docMk/>
              <pc:sldMasterMk cId="3439491168" sldId="2147483648"/>
              <pc:sldLayoutMk cId="3787240098" sldId="2147483650"/>
              <ac:grpSpMk id="7" creationId="{4A155259-6FAB-2DFC-07A0-CE204CED2719}"/>
            </ac:grpSpMkLst>
          </pc:grpChg>
          <pc:picChg chg="del mod">
            <ac:chgData name="Marcelo  Adade" userId="966742d4-5394-4d85-9fa0-7be443cf84e4" providerId="ADAL" clId="{3560FF88-263F-4A0D-AE33-291A4B966B16}" dt="2026-03-26T14:22:09.671" v="21" actId="478"/>
            <ac:picMkLst>
              <pc:docMk/>
              <pc:sldMasterMk cId="3439491168" sldId="2147483648"/>
              <pc:sldLayoutMk cId="3787240098" sldId="2147483650"/>
              <ac:picMk id="9" creationId="{FD4E2910-440E-D678-B6E8-C47263ADF257}"/>
            </ac:picMkLst>
          </pc:picChg>
          <pc:picChg chg="mod">
            <ac:chgData name="Marcelo  Adade" userId="966742d4-5394-4d85-9fa0-7be443cf84e4" providerId="ADAL" clId="{3560FF88-263F-4A0D-AE33-291A4B966B16}" dt="2026-03-26T14:22:28.952" v="23" actId="1076"/>
            <ac:picMkLst>
              <pc:docMk/>
              <pc:sldMasterMk cId="3439491168" sldId="2147483648"/>
              <pc:sldLayoutMk cId="3787240098" sldId="2147483650"/>
              <ac:picMk id="15" creationId="{7DCC5653-C256-9888-B60F-DE345F5192F4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8E1678-4CEF-1D14-6D34-25B3FA9D2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CE8EF-A9CF-0343-178A-EA012610F8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6879F-9B2B-44CE-B2CD-3942B87FE23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0DC6D-4070-9816-21B8-A26A7FD4D4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C0FEB-A914-2E88-C609-D760B74604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F14ED-16A7-4D6C-810B-947FB86570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7354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85F65-58EE-495B-A977-2641B0318400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628D0-4F40-4BE2-A400-C206E4352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61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628D0-4F40-4BE2-A400-C206E43522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2111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A3B8-4747-A260-0875-28C0C49ED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2A5A7-AB0F-548F-4AD9-F28C4B310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6E8F6-E5B0-7E54-D5B5-B9D3D049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A5981-D8CF-6580-2BE5-AD7FAD69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040F6-06F3-CCAB-4433-D229C643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39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C331-E85E-A968-4B14-FDB57B51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3C23B-42E1-F24B-1E1F-07E8F4248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94"/>
            <a:ext cx="10515600" cy="4351338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72A4F-807A-BBA8-415A-5E32B53B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F053D-8FFA-832E-432C-5151E722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2CD67-8714-2674-5FCE-B945D5D5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155259-6FAB-2DFC-07A0-CE204CED2719}"/>
              </a:ext>
            </a:extLst>
          </p:cNvPr>
          <p:cNvGrpSpPr/>
          <p:nvPr userDrawn="1"/>
        </p:nvGrpSpPr>
        <p:grpSpPr>
          <a:xfrm>
            <a:off x="0" y="0"/>
            <a:ext cx="12191695" cy="844804"/>
            <a:chOff x="0" y="0"/>
            <a:chExt cx="12191695" cy="844804"/>
          </a:xfrm>
        </p:grpSpPr>
        <p:sp>
          <p:nvSpPr>
            <p:cNvPr id="8" name="Shape 0">
              <a:extLst>
                <a:ext uri="{FF2B5EF4-FFF2-40B4-BE49-F238E27FC236}">
                  <a16:creationId xmlns:a16="http://schemas.microsoft.com/office/drawing/2014/main" id="{F9827AF2-2F64-BA27-5C8F-95FBCE15C7F6}"/>
                </a:ext>
              </a:extLst>
            </p:cNvPr>
            <p:cNvSpPr/>
            <p:nvPr/>
          </p:nvSpPr>
          <p:spPr>
            <a:xfrm>
              <a:off x="0" y="0"/>
              <a:ext cx="2031949" cy="128016"/>
            </a:xfrm>
            <a:prstGeom prst="rect">
              <a:avLst/>
            </a:prstGeom>
            <a:solidFill>
              <a:srgbClr val="ED6C31"/>
            </a:solidFill>
            <a:ln w="12700">
              <a:solidFill>
                <a:srgbClr val="ED6C3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4F41CFA8-42AC-2127-0BD5-82A2B2E5B62A}"/>
                </a:ext>
              </a:extLst>
            </p:cNvPr>
            <p:cNvSpPr/>
            <p:nvPr/>
          </p:nvSpPr>
          <p:spPr>
            <a:xfrm>
              <a:off x="2031949" y="0"/>
              <a:ext cx="2031949" cy="128016"/>
            </a:xfrm>
            <a:prstGeom prst="rect">
              <a:avLst/>
            </a:prstGeom>
            <a:solidFill>
              <a:srgbClr val="EA9E2F"/>
            </a:solidFill>
            <a:ln w="12700">
              <a:solidFill>
                <a:srgbClr val="EA9E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93A228AA-2E1B-8CCC-484F-8DFA482860E7}"/>
                </a:ext>
              </a:extLst>
            </p:cNvPr>
            <p:cNvSpPr/>
            <p:nvPr/>
          </p:nvSpPr>
          <p:spPr>
            <a:xfrm>
              <a:off x="4063898" y="0"/>
              <a:ext cx="2031949" cy="128016"/>
            </a:xfrm>
            <a:prstGeom prst="rect">
              <a:avLst/>
            </a:prstGeom>
            <a:solidFill>
              <a:srgbClr val="C3AF40"/>
            </a:solidFill>
            <a:ln w="12700">
              <a:solidFill>
                <a:srgbClr val="C3AF4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1DE59663-E385-9216-0378-ACC0DCA04159}"/>
                </a:ext>
              </a:extLst>
            </p:cNvPr>
            <p:cNvSpPr/>
            <p:nvPr/>
          </p:nvSpPr>
          <p:spPr>
            <a:xfrm>
              <a:off x="6095848" y="0"/>
              <a:ext cx="2031949" cy="128016"/>
            </a:xfrm>
            <a:prstGeom prst="rect">
              <a:avLst/>
            </a:prstGeom>
            <a:solidFill>
              <a:srgbClr val="4DAF64"/>
            </a:solidFill>
            <a:ln w="12700">
              <a:solidFill>
                <a:srgbClr val="4DAF6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8835B008-E098-937C-1EA3-5C3CB9748691}"/>
                </a:ext>
              </a:extLst>
            </p:cNvPr>
            <p:cNvSpPr/>
            <p:nvPr/>
          </p:nvSpPr>
          <p:spPr>
            <a:xfrm>
              <a:off x="8127797" y="0"/>
              <a:ext cx="2031949" cy="128016"/>
            </a:xfrm>
            <a:prstGeom prst="rect">
              <a:avLst/>
            </a:prstGeom>
            <a:solidFill>
              <a:srgbClr val="12A781"/>
            </a:solidFill>
            <a:ln w="12700">
              <a:solidFill>
                <a:srgbClr val="12A78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6993CAF6-D46C-3F70-AD5B-7AE590B62D7D}"/>
                </a:ext>
              </a:extLst>
            </p:cNvPr>
            <p:cNvSpPr/>
            <p:nvPr/>
          </p:nvSpPr>
          <p:spPr>
            <a:xfrm>
              <a:off x="10159746" y="0"/>
              <a:ext cx="2031949" cy="128016"/>
            </a:xfrm>
            <a:prstGeom prst="rect">
              <a:avLst/>
            </a:prstGeom>
            <a:solidFill>
              <a:srgbClr val="3391AB"/>
            </a:solidFill>
            <a:ln w="12700">
              <a:solidFill>
                <a:srgbClr val="3391A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0" descr="/mnt/data/7d350d0e-03d7-4f3e-a65a-744229334970.png">
              <a:extLst>
                <a:ext uri="{FF2B5EF4-FFF2-40B4-BE49-F238E27FC236}">
                  <a16:creationId xmlns:a16="http://schemas.microsoft.com/office/drawing/2014/main" id="{7DCC5653-C256-9888-B60F-DE345F519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9773" y="289735"/>
              <a:ext cx="960120" cy="555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7240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72960-35C9-CC92-83DF-B09E94B0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AE996-F393-54AF-1961-CD262F82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F3D00-C2ED-D6BA-A0EC-2D971F27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EF4D-0755-6400-0575-C4F43EE5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563A0-BEE1-A7EC-369C-AA84B451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17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05E3-BE4C-63C3-BD67-AEDA4C1D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97CC8-5C09-FE7D-716E-4D987A39C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1F252-55BF-1259-82FB-7280ECE04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44213-371E-9D7D-0C8F-25B0AE27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79993-A0F9-6E3A-4C40-CD1A9444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7F77B-FC6A-BB34-9021-3885EC1E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89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5672-BE8F-3ECA-B079-F59FA253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73636-24D5-B989-24CC-183B776A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251E1-9D12-18DC-939A-30A50502B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E7BCE-BC28-6DB5-A669-47A171523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AE540-A162-FCEC-B490-19CCA7A9C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350AD8-7CC4-5ACB-D69C-74B53ECD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4258A-45A4-D4CB-F068-3180C321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073D3-562D-D33F-2B5C-FF9C5A5A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8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0C76-767B-39B8-2376-4A1F4275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0D44BC-94B1-A15E-46A5-CE824F3E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DBD43E-3A35-A815-E9BA-60D30651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ADF65-1FF5-661A-3824-E9BCC1DF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5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0A55F7-031A-4346-8598-1C32393D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F799F-AAE6-781F-3417-0A4DB4BF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06913-AF1D-DA32-EB22-1DC53CB2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2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BD00-3979-AF33-C97C-6C41A045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C1D18-CF40-B241-6BD7-4AE2B705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2822B-146B-42E0-E1D7-5FDAA2B83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5E98-DCE0-EBB8-1DF0-BF3553F8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41828-C79D-101D-1EAB-3B89473A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C4C27-FFC0-A2ED-D394-498AB71B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18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9B57D-3E7F-90A2-C120-CB211C15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7A8EC9-09A9-6D0D-2570-96BAC2C78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E2FF2-5B96-C497-D5BC-B65B1DFBC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2E924-A234-9A63-4B2F-60AE86DE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51AD2-1C81-A6C6-4393-DF2F3464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063C1-A255-FA0F-08CD-0FFBA88E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2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7406-1770-E9BF-30AB-3A4D5008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76B9A-F7CF-5321-BC4E-99FE862CF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7A06-851C-DF9A-852F-DEB4D1C6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848C6-530F-3A2B-78A7-AAA869E9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D1ACF-1217-F10B-3D5D-BCBA853A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30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2E720-374B-671F-27FC-18B902564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31AE0-F284-0351-F3E0-8881A73F8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7EDCE-4984-72D6-E025-4980E39D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EE4BD-1445-E858-DEE0-C322B356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A47B7-F60D-8A07-B6AB-D9FEF9EB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A211E-0C50-392C-EFA4-7ACAB00ED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EDE23-5B5A-1981-6B7B-D6F935F20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1FD6E-55D1-79F6-38EA-6140CC3CB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D9233-F3CF-496B-BD60-D7064A106C3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FD55D-0035-E623-AAC1-FA955735C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87616-A0FB-4D46-AE30-3CE614963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06D26-C954-41A9-A8A4-EC79C336B9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91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microsoft.com/office/2007/relationships/hdphoto" Target="../media/hdphoto1.wdp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ridge with cables and lights&#10;&#10;Description automatically generated">
            <a:extLst>
              <a:ext uri="{FF2B5EF4-FFF2-40B4-BE49-F238E27FC236}">
                <a16:creationId xmlns:a16="http://schemas.microsoft.com/office/drawing/2014/main" id="{18883190-0BF8-C10B-41CC-D8BF7F92C3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4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266D7D-0B61-27B6-FD90-7876C7CE1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730" y="86498"/>
            <a:ext cx="11257413" cy="2694109"/>
          </a:xfrm>
        </p:spPr>
        <p:txBody>
          <a:bodyPr>
            <a:normAutofit/>
          </a:bodyPr>
          <a:lstStyle/>
          <a:p>
            <a:pPr algn="l"/>
            <a:r>
              <a:rPr lang="pt-BR" sz="4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Produtividade no uso de</a:t>
            </a:r>
            <a:br>
              <a:rPr lang="pt-BR" sz="4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4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Bancos de Dados com </a:t>
            </a:r>
            <a:r>
              <a:rPr lang="pt-BR" sz="4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IAs</a:t>
            </a:r>
            <a:br>
              <a:rPr lang="pt-BR" sz="4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Descomplicando tarefas do dia a dia com MCP Servers</a:t>
            </a:r>
            <a:endParaRPr lang="en-US" sz="3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31715-D7B1-5207-F172-306B852B4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537" y="3126898"/>
            <a:ext cx="11583206" cy="106410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Milton Câmara</a:t>
            </a:r>
            <a:b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Microsoft MVP</a:t>
            </a:r>
          </a:p>
        </p:txBody>
      </p:sp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5BCB892-A019-33E6-D75F-15AEBAEA65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13" r="32221" b="18653"/>
          <a:stretch/>
        </p:blipFill>
        <p:spPr>
          <a:xfrm>
            <a:off x="6734394" y="5227244"/>
            <a:ext cx="5268097" cy="1544258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80D64F5-2880-4B44-1E80-700C076915FF}"/>
              </a:ext>
            </a:extLst>
          </p:cNvPr>
          <p:cNvSpPr txBox="1">
            <a:spLocks/>
          </p:cNvSpPr>
          <p:nvPr/>
        </p:nvSpPr>
        <p:spPr>
          <a:xfrm>
            <a:off x="862538" y="4030411"/>
            <a:ext cx="11583206" cy="1064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Renato Groffe</a:t>
            </a:r>
            <a:br>
              <a:rPr lang="en-US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2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Microsoft MVP, Docker Captain, Grafana Champion, APIsec U Ambassador, MTAC</a:t>
            </a:r>
            <a:endParaRPr lang="en-US" sz="2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808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2E14-F961-7657-9685-E72F227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Renato Groffe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68380-CC4A-70C4-D013-5B99DCA6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841" y="1193228"/>
            <a:ext cx="10515600" cy="4351338"/>
          </a:xfrm>
        </p:spPr>
        <p:txBody>
          <a:bodyPr>
            <a:normAutofit/>
          </a:bodyPr>
          <a:lstStyle/>
          <a:p>
            <a:r>
              <a:rPr lang="en-US" sz="2300" dirty="0"/>
              <a:t>Microsoft Most Valuable Professional (MVP)</a:t>
            </a:r>
          </a:p>
          <a:p>
            <a:r>
              <a:rPr lang="en-US" sz="2300" dirty="0"/>
              <a:t>Docker Captain</a:t>
            </a:r>
          </a:p>
          <a:p>
            <a:r>
              <a:rPr lang="en-US" sz="2300" dirty="0"/>
              <a:t>Grafana Champion</a:t>
            </a:r>
          </a:p>
          <a:p>
            <a:r>
              <a:rPr lang="en-US" sz="2300" dirty="0"/>
              <a:t>APISEC U Ambassador</a:t>
            </a:r>
          </a:p>
          <a:p>
            <a:r>
              <a:rPr lang="en-US" sz="2300" dirty="0"/>
              <a:t>Multi-</a:t>
            </a:r>
            <a:r>
              <a:rPr lang="en-US" sz="2300" dirty="0" err="1"/>
              <a:t>Plataform</a:t>
            </a:r>
            <a:r>
              <a:rPr lang="en-US" sz="2300" dirty="0"/>
              <a:t> Technical Audience Contributor (MTAC)</a:t>
            </a:r>
          </a:p>
          <a:p>
            <a:r>
              <a:rPr lang="en-US" sz="2300" dirty="0" err="1"/>
              <a:t>Arquiteto</a:t>
            </a:r>
            <a:r>
              <a:rPr lang="en-US" sz="2300" dirty="0"/>
              <a:t> de </a:t>
            </a:r>
            <a:r>
              <a:rPr lang="en-US" sz="2300" dirty="0" err="1"/>
              <a:t>Soluções</a:t>
            </a:r>
            <a:r>
              <a:rPr lang="en-US" sz="2300" dirty="0"/>
              <a:t>/Software</a:t>
            </a:r>
          </a:p>
          <a:p>
            <a:r>
              <a:rPr lang="en-US" sz="2300" dirty="0"/>
              <a:t>+20 </a:t>
            </a:r>
            <a:r>
              <a:rPr lang="en-US" sz="2300" dirty="0" err="1"/>
              <a:t>anos</a:t>
            </a:r>
            <a:r>
              <a:rPr lang="en-US" sz="2300" dirty="0"/>
              <a:t> de </a:t>
            </a:r>
            <a:r>
              <a:rPr lang="en-US" sz="2300" dirty="0" err="1"/>
              <a:t>experiência</a:t>
            </a:r>
            <a:r>
              <a:rPr lang="en-US" sz="2300" dirty="0"/>
              <a:t> </a:t>
            </a:r>
            <a:r>
              <a:rPr lang="en-US" sz="2300" dirty="0" err="1"/>
              <a:t>na</a:t>
            </a:r>
            <a:r>
              <a:rPr lang="en-US" sz="2300" dirty="0"/>
              <a:t> </a:t>
            </a:r>
            <a:r>
              <a:rPr lang="en-US" sz="2300" dirty="0" err="1"/>
              <a:t>área</a:t>
            </a:r>
            <a:r>
              <a:rPr lang="en-US" sz="2300" dirty="0"/>
              <a:t> de </a:t>
            </a:r>
            <a:r>
              <a:rPr lang="en-US" sz="2300" dirty="0" err="1"/>
              <a:t>Tecnologia</a:t>
            </a:r>
            <a:endParaRPr lang="en-US" sz="2300" dirty="0"/>
          </a:p>
          <a:p>
            <a:r>
              <a:rPr lang="en-US" sz="2300" dirty="0"/>
              <a:t>Community Leader, Autor Técnico e </a:t>
            </a:r>
            <a:r>
              <a:rPr lang="en-US" sz="2300" dirty="0" err="1"/>
              <a:t>Palestrante</a:t>
            </a:r>
            <a:endParaRPr lang="en-US" sz="2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046DE98-5395-CA3E-A018-5C174AB55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863" y="1138798"/>
            <a:ext cx="2064045" cy="2290202"/>
          </a:xfrm>
          <a:prstGeom prst="rect">
            <a:avLst/>
          </a:prstGeom>
        </p:spPr>
      </p:pic>
      <p:pic>
        <p:nvPicPr>
          <p:cNvPr id="5" name="Imagem 4" descr="Código QR&#10;&#10;O conteúdo gerado por IA pode estar incorreto.">
            <a:extLst>
              <a:ext uri="{FF2B5EF4-FFF2-40B4-BE49-F238E27FC236}">
                <a16:creationId xmlns:a16="http://schemas.microsoft.com/office/drawing/2014/main" id="{4B39F694-2EF7-7A7E-4942-73D12A5A0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736" y="3629362"/>
            <a:ext cx="2768301" cy="2768301"/>
          </a:xfrm>
          <a:prstGeom prst="rect">
            <a:avLst/>
          </a:prstGeom>
        </p:spPr>
      </p:pic>
      <p:pic>
        <p:nvPicPr>
          <p:cNvPr id="7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AB9D64F-3166-919A-E636-EF1D7DACE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09" y="5130797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68116C60-9D45-75A8-5C72-31BB03D19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76" y="4806728"/>
            <a:ext cx="1403451" cy="14034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8D76F98-9248-090F-6FCE-9855F43CCF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784" y="4744537"/>
            <a:ext cx="1600799" cy="1600799"/>
          </a:xfrm>
          <a:prstGeom prst="rect">
            <a:avLst/>
          </a:prstGeom>
        </p:spPr>
      </p:pic>
      <p:pic>
        <p:nvPicPr>
          <p:cNvPr id="10" name="Imagem 9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AA9869EF-FE1D-6BF9-DC95-8EBA9DAEFD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781" y="4487450"/>
            <a:ext cx="1699365" cy="1699365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D1F80D7-6C9F-A1FA-29F7-2FA92305BF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0107" y="4531703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5E85-A6F8-8BDA-1F47-DC4B8B79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B0E5-85EC-8C9C-F7C1-5577A059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Milton Câmara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EFFC-B8B4-2BB7-EDB4-797FC43D8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841" y="119322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 de Engenharia –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Robbu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  <a:p>
            <a:endParaRPr lang="en-US" sz="2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DD13A946-00C2-501A-9E32-160C6A0CC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09" y="5130797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m do perfil">
            <a:extLst>
              <a:ext uri="{FF2B5EF4-FFF2-40B4-BE49-F238E27FC236}">
                <a16:creationId xmlns:a16="http://schemas.microsoft.com/office/drawing/2014/main" id="{1FC6C067-EFDB-DC7D-F6F0-AE7E1C142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939" y="964006"/>
            <a:ext cx="2209800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821464F9-3F23-372B-11E2-8DB6DA1BC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971" y="4137812"/>
            <a:ext cx="1917338" cy="188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86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F394CF-6EC9-1780-FFC7-D4219F475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458"/>
            <a:ext cx="10813443" cy="678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8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7BD1-85B3-FFFF-810C-86605AAB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Conteúdos</a:t>
            </a:r>
            <a:r>
              <a:rPr lang="en-US" dirty="0"/>
              <a:t> </a:t>
            </a:r>
            <a:r>
              <a:rPr lang="en-US" dirty="0" err="1"/>
              <a:t>desta</a:t>
            </a:r>
            <a:r>
              <a:rPr lang="en-US" dirty="0"/>
              <a:t> </a:t>
            </a:r>
            <a:r>
              <a:rPr lang="en-US" dirty="0" err="1"/>
              <a:t>apresentação</a:t>
            </a:r>
            <a:endParaRPr lang="en-US" dirty="0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9F3D12DF-1566-B82F-7283-8EE4C3575DD4}"/>
              </a:ext>
            </a:extLst>
          </p:cNvPr>
          <p:cNvSpPr>
            <a:spLocks noGrp="1"/>
          </p:cNvSpPr>
          <p:nvPr/>
        </p:nvSpPr>
        <p:spPr>
          <a:xfrm>
            <a:off x="1227137" y="4596720"/>
            <a:ext cx="9982201" cy="5447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600" b="1" dirty="0">
                <a:solidFill>
                  <a:schemeClr val="bg1"/>
                </a:solidFill>
              </a:rPr>
              <a:t>github.com/</a:t>
            </a:r>
            <a:r>
              <a:rPr lang="pt-BR" sz="2600" b="1" dirty="0" err="1">
                <a:solidFill>
                  <a:schemeClr val="bg1"/>
                </a:solidFill>
              </a:rPr>
              <a:t>renatogroffe</a:t>
            </a:r>
            <a:r>
              <a:rPr lang="pt-BR" sz="2600" b="1" dirty="0">
                <a:solidFill>
                  <a:schemeClr val="bg1"/>
                </a:solidFill>
              </a:rPr>
              <a:t>/produtividade-ias-mcps_ai-weekend-2026-01</a:t>
            </a:r>
          </a:p>
        </p:txBody>
      </p:sp>
      <p:sp>
        <p:nvSpPr>
          <p:cNvPr id="8" name="Nosso Propsito">
            <a:extLst>
              <a:ext uri="{FF2B5EF4-FFF2-40B4-BE49-F238E27FC236}">
                <a16:creationId xmlns:a16="http://schemas.microsoft.com/office/drawing/2014/main" id="{0A4D0B33-9697-55F0-5231-9B36640652E5}"/>
              </a:ext>
            </a:extLst>
          </p:cNvPr>
          <p:cNvSpPr/>
          <p:nvPr/>
        </p:nvSpPr>
        <p:spPr>
          <a:xfrm>
            <a:off x="7970837" y="2453133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0585127-43BA-A4FD-7137-80F677F0C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015320"/>
            <a:ext cx="3581400" cy="3581400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08E8DDC8-E39D-5FE7-F257-F5A3C6A05A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7967" y="5431818"/>
            <a:ext cx="1073898" cy="107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2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D6A9-BF35-BFBB-DD77-01DC84C1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CF298-44D6-8D84-3A63-CBCC77658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B0560-3DC4-3810-D94D-384729B54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MCP: uma visão geral</a:t>
            </a:r>
          </a:p>
          <a:p>
            <a:r>
              <a:rPr lang="pt-BR" dirty="0"/>
              <a:t>MCP Servers + Produtividade com Bancos de Dados</a:t>
            </a:r>
          </a:p>
          <a:p>
            <a:r>
              <a:rPr lang="pt-BR" dirty="0"/>
              <a:t>Exemplos práticos</a:t>
            </a:r>
            <a:endParaRPr lang="en-US" dirty="0"/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B933BD7A-E756-689F-DF9F-81EA687D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1915" y="4106862"/>
            <a:ext cx="1792644" cy="179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3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5DD6-9056-0973-FAC6-C63A1532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MCP: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geral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CF768-8549-D72F-E351-225C17E9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94"/>
            <a:ext cx="7336971" cy="4351338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Model </a:t>
            </a:r>
            <a:r>
              <a:rPr lang="pt-BR" b="1" dirty="0" err="1"/>
              <a:t>Context</a:t>
            </a:r>
            <a:r>
              <a:rPr lang="pt-BR" b="1" dirty="0"/>
              <a:t> </a:t>
            </a:r>
            <a:r>
              <a:rPr lang="pt-BR" b="1" dirty="0" err="1"/>
              <a:t>Protocol</a:t>
            </a:r>
            <a:endParaRPr lang="pt-BR" b="1" dirty="0"/>
          </a:p>
          <a:p>
            <a:endParaRPr lang="pt-BR" dirty="0"/>
          </a:p>
          <a:p>
            <a:r>
              <a:rPr lang="pt-BR" dirty="0"/>
              <a:t>Anunciado pela </a:t>
            </a:r>
            <a:r>
              <a:rPr lang="pt-BR" b="1" dirty="0" err="1"/>
              <a:t>Anthropic</a:t>
            </a:r>
            <a:r>
              <a:rPr lang="pt-BR" b="1" dirty="0"/>
              <a:t> </a:t>
            </a:r>
            <a:r>
              <a:rPr lang="pt-BR" dirty="0"/>
              <a:t>em </a:t>
            </a:r>
            <a:r>
              <a:rPr lang="pt-BR" b="1" dirty="0"/>
              <a:t>Novembro/2024</a:t>
            </a:r>
          </a:p>
          <a:p>
            <a:endParaRPr lang="pt-BR" dirty="0"/>
          </a:p>
          <a:p>
            <a:r>
              <a:rPr lang="pt-BR" dirty="0"/>
              <a:t>Passagem oficial do projeto </a:t>
            </a:r>
            <a:r>
              <a:rPr lang="pt-BR" b="1" dirty="0"/>
              <a:t>MCP</a:t>
            </a:r>
            <a:r>
              <a:rPr lang="pt-BR" dirty="0"/>
              <a:t> para a administração da </a:t>
            </a:r>
            <a:r>
              <a:rPr lang="pt-BR" b="1" dirty="0"/>
              <a:t>Linux Foundation</a:t>
            </a:r>
            <a:r>
              <a:rPr lang="pt-BR" dirty="0"/>
              <a:t>, via </a:t>
            </a:r>
            <a:r>
              <a:rPr lang="pt-BR" b="1" dirty="0" err="1"/>
              <a:t>Agentic</a:t>
            </a:r>
            <a:r>
              <a:rPr lang="pt-BR" b="1" dirty="0"/>
              <a:t> AI Foundation (AAIF)</a:t>
            </a:r>
            <a:r>
              <a:rPr lang="pt-BR" dirty="0"/>
              <a:t> em </a:t>
            </a:r>
            <a:r>
              <a:rPr lang="pt-BR" b="1" dirty="0"/>
              <a:t>Dezembro/2025</a:t>
            </a:r>
          </a:p>
          <a:p>
            <a:endParaRPr lang="pt-BR" dirty="0"/>
          </a:p>
          <a:p>
            <a:r>
              <a:rPr lang="pt-BR" dirty="0"/>
              <a:t>Uma </a:t>
            </a:r>
            <a:r>
              <a:rPr lang="pt-BR" b="1" dirty="0"/>
              <a:t>padronização </a:t>
            </a:r>
            <a:r>
              <a:rPr lang="pt-BR" dirty="0"/>
              <a:t>para simplificar a integração das mais variadas soluções com modelos de Inteligência Artificial</a:t>
            </a:r>
            <a:endParaRPr lang="en-US" dirty="0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E5B4DC67-12A7-3056-364F-8F62C42EC2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75382" y="2214357"/>
            <a:ext cx="2108833" cy="2108833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B9BF868-19F4-E502-9060-E1FA1B12C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799" y="4886613"/>
            <a:ext cx="3048001" cy="102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816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500A2-DE02-3A72-F45D-FC339B28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EF6B-DFE1-08AE-47BA-1D20FAB6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MCP: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geral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03AB6-956C-1D97-3B31-D66D62DB9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94"/>
            <a:ext cx="7336971" cy="4351338"/>
          </a:xfrm>
        </p:spPr>
        <p:txBody>
          <a:bodyPr>
            <a:normAutofit/>
          </a:bodyPr>
          <a:lstStyle/>
          <a:p>
            <a:r>
              <a:rPr lang="pt-BR" dirty="0"/>
              <a:t>Analogia com uma </a:t>
            </a:r>
            <a:r>
              <a:rPr lang="pt-BR" b="1" dirty="0"/>
              <a:t>"porta USB"</a:t>
            </a:r>
          </a:p>
          <a:p>
            <a:endParaRPr lang="pt-BR" dirty="0"/>
          </a:p>
          <a:p>
            <a:r>
              <a:rPr lang="pt-BR" b="1" dirty="0"/>
              <a:t>Protocolo aberto</a:t>
            </a:r>
            <a:r>
              <a:rPr lang="pt-BR" dirty="0"/>
              <a:t> que enfatiza </a:t>
            </a:r>
            <a:r>
              <a:rPr lang="pt-BR" b="1" dirty="0"/>
              <a:t>flexibilidade</a:t>
            </a:r>
          </a:p>
          <a:p>
            <a:endParaRPr lang="pt-BR" dirty="0"/>
          </a:p>
          <a:p>
            <a:r>
              <a:rPr lang="pt-BR" dirty="0"/>
              <a:t>Comunicação via </a:t>
            </a:r>
            <a:r>
              <a:rPr lang="pt-BR" b="1" dirty="0"/>
              <a:t>STDIO x HTTP/</a:t>
            </a:r>
            <a:r>
              <a:rPr lang="pt-BR" b="1" dirty="0" err="1"/>
              <a:t>Streams</a:t>
            </a:r>
            <a:endParaRPr lang="pt-BR" b="1" dirty="0"/>
          </a:p>
          <a:p>
            <a:endParaRPr lang="pt-BR" dirty="0"/>
          </a:p>
          <a:p>
            <a:r>
              <a:rPr lang="pt-BR" dirty="0"/>
              <a:t>Suporte a desenvolvimento nas principais </a:t>
            </a:r>
            <a:r>
              <a:rPr lang="pt-BR" dirty="0" err="1"/>
              <a:t>stacks</a:t>
            </a:r>
            <a:r>
              <a:rPr lang="pt-BR" dirty="0"/>
              <a:t>: </a:t>
            </a:r>
            <a:r>
              <a:rPr lang="pt-BR" b="1" dirty="0"/>
              <a:t>.NET, Java, Node/</a:t>
            </a:r>
            <a:r>
              <a:rPr lang="pt-BR" b="1" dirty="0" err="1"/>
              <a:t>Typescript</a:t>
            </a:r>
            <a:r>
              <a:rPr lang="pt-BR" b="1" dirty="0"/>
              <a:t>, Python, Go, Swift, </a:t>
            </a:r>
            <a:r>
              <a:rPr lang="pt-BR" b="1" dirty="0" err="1"/>
              <a:t>Kotlin</a:t>
            </a:r>
            <a:r>
              <a:rPr lang="pt-BR" b="1" dirty="0"/>
              <a:t>, Ruby...</a:t>
            </a:r>
            <a:endParaRPr lang="en-US" b="1" dirty="0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416CC938-D1FB-8179-68FA-482F908C67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9068" y="2143384"/>
            <a:ext cx="2793072" cy="279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53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CF9C-18DC-D092-7319-9EB491A1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5EF0-6ECA-9801-D66C-FD105E3A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MCP: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geral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28D44-428D-09AE-4059-81173506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94"/>
            <a:ext cx="6152133" cy="4351338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 err="1"/>
              <a:t>MCPs</a:t>
            </a:r>
            <a:r>
              <a:rPr lang="pt-BR" b="1" dirty="0"/>
              <a:t> Servers</a:t>
            </a:r>
            <a:r>
              <a:rPr lang="pt-BR" dirty="0"/>
              <a:t> costumam ser distribuídos como </a:t>
            </a:r>
            <a:r>
              <a:rPr lang="pt-BR" b="1" dirty="0" err="1"/>
              <a:t>packages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b="1" dirty="0" err="1"/>
              <a:t>npm</a:t>
            </a:r>
            <a:r>
              <a:rPr lang="pt-BR" b="1" dirty="0"/>
              <a:t>, </a:t>
            </a:r>
            <a:r>
              <a:rPr lang="pt-BR" b="1" dirty="0" err="1"/>
              <a:t>NuGet</a:t>
            </a:r>
            <a:r>
              <a:rPr lang="pt-BR" b="1" dirty="0"/>
              <a:t>...</a:t>
            </a:r>
            <a:r>
              <a:rPr lang="pt-BR" dirty="0"/>
              <a:t>) ou imagens </a:t>
            </a:r>
            <a:r>
              <a:rPr lang="pt-BR" b="1" dirty="0"/>
              <a:t>Docker</a:t>
            </a:r>
          </a:p>
          <a:p>
            <a:endParaRPr lang="pt-BR" dirty="0"/>
          </a:p>
          <a:p>
            <a:r>
              <a:rPr lang="pt-BR" dirty="0"/>
              <a:t>Há a possibilidade de uso também de executáveis</a:t>
            </a:r>
          </a:p>
          <a:p>
            <a:endParaRPr lang="pt-BR" dirty="0"/>
          </a:p>
          <a:p>
            <a:r>
              <a:rPr lang="pt-BR" dirty="0"/>
              <a:t>Fácil integração com </a:t>
            </a:r>
            <a:r>
              <a:rPr lang="pt-BR" b="1" dirty="0"/>
              <a:t>Visual Studio </a:t>
            </a:r>
            <a:r>
              <a:rPr lang="pt-BR" b="1" dirty="0" err="1"/>
              <a:t>Code</a:t>
            </a:r>
            <a:r>
              <a:rPr lang="pt-BR" b="1" dirty="0"/>
              <a:t>/GitHub </a:t>
            </a:r>
            <a:r>
              <a:rPr lang="pt-BR" b="1" dirty="0" err="1"/>
              <a:t>Copilot</a:t>
            </a:r>
            <a:r>
              <a:rPr lang="pt-BR" dirty="0"/>
              <a:t>, </a:t>
            </a:r>
            <a:r>
              <a:rPr lang="pt-BR" b="1" dirty="0"/>
              <a:t>Claude</a:t>
            </a:r>
            <a:r>
              <a:rPr lang="pt-BR" dirty="0"/>
              <a:t> e outras soluções de IA que ofereçam funcionalidades de chat (como </a:t>
            </a:r>
            <a:r>
              <a:rPr lang="pt-BR" b="1" dirty="0"/>
              <a:t>Microsoft Agent Framework</a:t>
            </a:r>
            <a:r>
              <a:rPr lang="pt-BR" dirty="0"/>
              <a:t>)</a:t>
            </a: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B9EE731-9F81-9856-40FC-1121DAF765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80714" y="1194830"/>
            <a:ext cx="1989026" cy="1989026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9C3AAF5D-C914-9B2B-31EB-1BC037D78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534" y="4540952"/>
            <a:ext cx="1064180" cy="106418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D74A020B-630C-2025-D540-8F915C27EB3E}"/>
              </a:ext>
            </a:extLst>
          </p:cNvPr>
          <p:cNvPicPr>
            <a:picLocks noChangeAspect="1"/>
          </p:cNvPicPr>
          <p:nvPr/>
        </p:nvPicPr>
        <p:blipFill>
          <a:blip>
            <a:lum bright="-20000" contrast="4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5711" y="4563022"/>
            <a:ext cx="1282143" cy="106417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E78176E-C979-C151-2D3F-2BC2D3A9F6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714" y="4213069"/>
            <a:ext cx="1719943" cy="171994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0C74D22-46AE-9D32-69BE-BFD1C76DD7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6534" y="3296251"/>
            <a:ext cx="1347604" cy="106418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1DDF419-FBE7-653A-61AA-886D1F2DEE0E}"/>
              </a:ext>
            </a:extLst>
          </p:cNvPr>
          <p:cNvPicPr>
            <a:picLocks noChangeAspect="1"/>
          </p:cNvPicPr>
          <p:nvPr/>
        </p:nvPicPr>
        <p:blipFill>
          <a:blip>
            <a:lum bright="33000" contrast="87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56617" y="3218810"/>
            <a:ext cx="1071701" cy="107170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A408610B-3C32-D3D8-B539-EF88A0AEC3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5532" y="3116251"/>
            <a:ext cx="1276819" cy="127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5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B570-92AD-F356-1800-B1F05E4B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BD10-F8A3-9AC2-6570-3841AC18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MCP: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geral</a:t>
            </a:r>
            <a:endParaRPr lang="en-US" dirty="0"/>
          </a:p>
        </p:txBody>
      </p:sp>
      <p:pic>
        <p:nvPicPr>
          <p:cNvPr id="11" name="Imagem 10" descr="https://learn.microsoft.com/en-us/dotnet/ai/media/mcp/model-context-protocol-architecture-diagram.png">
            <a:extLst>
              <a:ext uri="{FF2B5EF4-FFF2-40B4-BE49-F238E27FC236}">
                <a16:creationId xmlns:a16="http://schemas.microsoft.com/office/drawing/2014/main" id="{AD82D7FE-C6CB-D6C3-A312-530EB1EE6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2" y="1278504"/>
            <a:ext cx="11629155" cy="4950762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91AB4CE8-DA1B-1348-609B-9D1197BE7ECF}"/>
              </a:ext>
            </a:extLst>
          </p:cNvPr>
          <p:cNvSpPr txBox="1">
            <a:spLocks/>
          </p:cNvSpPr>
          <p:nvPr/>
        </p:nvSpPr>
        <p:spPr>
          <a:xfrm>
            <a:off x="826371" y="5583255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Fonte: Microsoft</a:t>
            </a:r>
            <a:endParaRPr lang="pt-BR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780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D520-05A0-94C4-C59D-063E165A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9342-DF49-C717-003C-47406B12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MCP + Produtividade com Bancos de Dados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6FA40-C4F1-D625-5676-6FBE68AB7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94"/>
            <a:ext cx="7336971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 combinação </a:t>
            </a:r>
            <a:r>
              <a:rPr lang="pt-BR" b="1" dirty="0" err="1"/>
              <a:t>Agents</a:t>
            </a:r>
            <a:r>
              <a:rPr lang="pt-BR" b="1" dirty="0"/>
              <a:t> + </a:t>
            </a:r>
            <a:r>
              <a:rPr lang="pt-BR" b="1" dirty="0" err="1"/>
              <a:t>MCPs</a:t>
            </a:r>
            <a:r>
              <a:rPr lang="pt-BR" dirty="0"/>
              <a:t> pode ser de grande valia</a:t>
            </a:r>
          </a:p>
          <a:p>
            <a:endParaRPr lang="pt-BR" dirty="0"/>
          </a:p>
          <a:p>
            <a:r>
              <a:rPr lang="pt-BR" dirty="0"/>
              <a:t>Tarefas podem ser simplificadas numa </a:t>
            </a:r>
            <a:r>
              <a:rPr lang="pt-BR" b="1" dirty="0"/>
              <a:t>IDE </a:t>
            </a:r>
            <a:r>
              <a:rPr lang="pt-BR" dirty="0"/>
              <a:t>ou </a:t>
            </a:r>
            <a:r>
              <a:rPr lang="pt-BR" b="1" dirty="0"/>
              <a:t>ferramenta de edição de código</a:t>
            </a:r>
          </a:p>
          <a:p>
            <a:endParaRPr lang="pt-BR" dirty="0"/>
          </a:p>
          <a:p>
            <a:r>
              <a:rPr lang="pt-BR" b="1" dirty="0"/>
              <a:t>Redução de esforços</a:t>
            </a:r>
          </a:p>
          <a:p>
            <a:endParaRPr lang="pt-BR" dirty="0"/>
          </a:p>
          <a:p>
            <a:r>
              <a:rPr lang="pt-BR" dirty="0"/>
              <a:t>Extensões do </a:t>
            </a:r>
            <a:r>
              <a:rPr lang="pt-BR" b="1" dirty="0"/>
              <a:t>VS </a:t>
            </a:r>
            <a:r>
              <a:rPr lang="pt-BR" b="1" dirty="0" err="1"/>
              <a:t>Code</a:t>
            </a:r>
            <a:r>
              <a:rPr lang="pt-BR" b="1" dirty="0"/>
              <a:t> </a:t>
            </a:r>
            <a:r>
              <a:rPr lang="pt-BR" dirty="0"/>
              <a:t>contam até com </a:t>
            </a:r>
            <a:r>
              <a:rPr lang="pt-BR" b="1" dirty="0"/>
              <a:t>MCP Servers </a:t>
            </a:r>
            <a:r>
              <a:rPr lang="pt-BR" dirty="0"/>
              <a:t>embutidos</a:t>
            </a:r>
            <a:endParaRPr lang="en-US" b="1" dirty="0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74A151A1-DE95-1B6A-F6AE-77AD453EDDF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3891" y="1970314"/>
            <a:ext cx="2384352" cy="238435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3E8C3F9C-A6B9-0A21-2B90-3EDB9200C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438" y="4154570"/>
            <a:ext cx="1758362" cy="175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02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1F46-2F07-7409-6D43-C837412E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A299-769B-1620-BB29-3CB23ADE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Segurança com </a:t>
            </a:r>
            <a:r>
              <a:rPr lang="pt-BR" dirty="0" err="1"/>
              <a:t>MCPs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F3814-8857-99C8-F97E-F8682F68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94"/>
            <a:ext cx="7565571" cy="4351338"/>
          </a:xfrm>
        </p:spPr>
        <p:txBody>
          <a:bodyPr>
            <a:normAutofit/>
          </a:bodyPr>
          <a:lstStyle/>
          <a:p>
            <a:r>
              <a:rPr lang="pt-BR" dirty="0"/>
              <a:t>Boas práticas de segurança foram agrupadas na iniciativa </a:t>
            </a:r>
            <a:r>
              <a:rPr lang="pt-BR" b="1" dirty="0"/>
              <a:t>OWASP MCP Top 10</a:t>
            </a:r>
          </a:p>
          <a:p>
            <a:endParaRPr lang="pt-BR" dirty="0"/>
          </a:p>
          <a:p>
            <a:r>
              <a:rPr lang="pt-BR" b="1" dirty="0" err="1"/>
              <a:t>APIsec</a:t>
            </a:r>
            <a:r>
              <a:rPr lang="pt-BR" b="1" dirty="0"/>
              <a:t> MCP Discovery </a:t>
            </a:r>
            <a:r>
              <a:rPr lang="pt-BR" b="1" dirty="0" err="1"/>
              <a:t>and</a:t>
            </a:r>
            <a:r>
              <a:rPr lang="pt-BR" b="1" dirty="0"/>
              <a:t> </a:t>
            </a:r>
            <a:r>
              <a:rPr lang="pt-BR" b="1" dirty="0" err="1"/>
              <a:t>Audit</a:t>
            </a:r>
            <a:r>
              <a:rPr lang="pt-BR" dirty="0"/>
              <a:t> detectando configurações em repositórios</a:t>
            </a:r>
          </a:p>
          <a:p>
            <a:endParaRPr lang="pt-BR" dirty="0"/>
          </a:p>
          <a:p>
            <a:r>
              <a:rPr lang="pt-BR" b="1" dirty="0"/>
              <a:t>Docker MCP </a:t>
            </a:r>
            <a:r>
              <a:rPr lang="pt-BR" b="1" dirty="0" err="1"/>
              <a:t>Catalog</a:t>
            </a:r>
            <a:r>
              <a:rPr lang="pt-BR" dirty="0"/>
              <a:t> com MCP Servers considerados seguros</a:t>
            </a:r>
            <a:endParaRPr lang="en-US" b="1" dirty="0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4EB21F25-D62A-3EC9-3C8E-1A8C35E78C5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3891" y="1970314"/>
            <a:ext cx="2384352" cy="2384352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91360A4-80E4-C0E2-46CD-7F3AA717A9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0686" y="4223038"/>
            <a:ext cx="1689894" cy="168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5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5DD6-9056-0973-FAC6-C63A1532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0571"/>
            <a:ext cx="10515600" cy="3875315"/>
          </a:xfrm>
        </p:spPr>
        <p:txBody>
          <a:bodyPr>
            <a:normAutofit/>
          </a:bodyPr>
          <a:lstStyle/>
          <a:p>
            <a:r>
              <a:rPr lang="en-US" sz="7200" dirty="0"/>
              <a:t>DEMO TIME!</a:t>
            </a:r>
            <a:br>
              <a:rPr lang="en-US" sz="7200" dirty="0"/>
            </a:br>
            <a:br>
              <a:rPr lang="en-US" sz="6600" dirty="0"/>
            </a:br>
            <a:r>
              <a:rPr lang="en-US" sz="5400" dirty="0"/>
              <a:t>EXEMPLOS PRÁTICOS…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653696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7037C-4ABE-63A2-838B-6FF1D418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F663-8845-E025-E6D6-B3EE99DE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Conteúdos</a:t>
            </a:r>
            <a:r>
              <a:rPr lang="en-US" dirty="0"/>
              <a:t> </a:t>
            </a:r>
            <a:r>
              <a:rPr lang="en-US" dirty="0" err="1"/>
              <a:t>desta</a:t>
            </a:r>
            <a:r>
              <a:rPr lang="en-US" dirty="0"/>
              <a:t> </a:t>
            </a:r>
            <a:r>
              <a:rPr lang="en-US" dirty="0" err="1"/>
              <a:t>apresentação</a:t>
            </a:r>
            <a:endParaRPr lang="en-US" dirty="0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317A0833-A03A-F87C-F6BB-6F04C00748C2}"/>
              </a:ext>
            </a:extLst>
          </p:cNvPr>
          <p:cNvSpPr>
            <a:spLocks noGrp="1"/>
          </p:cNvSpPr>
          <p:nvPr/>
        </p:nvSpPr>
        <p:spPr>
          <a:xfrm>
            <a:off x="1227137" y="4596720"/>
            <a:ext cx="9982201" cy="5447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600" b="1" dirty="0">
                <a:solidFill>
                  <a:schemeClr val="bg1"/>
                </a:solidFill>
              </a:rPr>
              <a:t>github.com/</a:t>
            </a:r>
            <a:r>
              <a:rPr lang="pt-BR" sz="2600" b="1" dirty="0" err="1">
                <a:solidFill>
                  <a:schemeClr val="bg1"/>
                </a:solidFill>
              </a:rPr>
              <a:t>renatogroffe</a:t>
            </a:r>
            <a:r>
              <a:rPr lang="pt-BR" sz="2600" b="1" dirty="0">
                <a:solidFill>
                  <a:schemeClr val="bg1"/>
                </a:solidFill>
              </a:rPr>
              <a:t>/produtividade-ias-mcps_ai-weekend-2026-01</a:t>
            </a:r>
          </a:p>
        </p:txBody>
      </p:sp>
      <p:sp>
        <p:nvSpPr>
          <p:cNvPr id="8" name="Nosso Propsito">
            <a:extLst>
              <a:ext uri="{FF2B5EF4-FFF2-40B4-BE49-F238E27FC236}">
                <a16:creationId xmlns:a16="http://schemas.microsoft.com/office/drawing/2014/main" id="{386379FB-2052-D0DA-6BBD-56CE09294450}"/>
              </a:ext>
            </a:extLst>
          </p:cNvPr>
          <p:cNvSpPr/>
          <p:nvPr/>
        </p:nvSpPr>
        <p:spPr>
          <a:xfrm>
            <a:off x="7970837" y="2453133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08F653C-E932-E6DE-637B-F121B2EB8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015320"/>
            <a:ext cx="3581400" cy="3581400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E36DAD8D-57C6-9C5B-6BA1-1B8C0FB9774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7967" y="5431818"/>
            <a:ext cx="1073898" cy="107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52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5DD6-9056-0973-FAC6-C63A1532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Obrigado</a:t>
            </a:r>
            <a:r>
              <a:rPr lang="en-US" dirty="0"/>
              <a:t> e n</a:t>
            </a:r>
            <a:r>
              <a:rPr lang="pt-BR" dirty="0" err="1"/>
              <a:t>ão</a:t>
            </a:r>
            <a:r>
              <a:rPr lang="pt-BR" dirty="0"/>
              <a:t> perca o contato!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25211-D147-5B50-6B06-91F51788E302}"/>
              </a:ext>
            </a:extLst>
          </p:cNvPr>
          <p:cNvSpPr txBox="1"/>
          <p:nvPr/>
        </p:nvSpPr>
        <p:spPr>
          <a:xfrm>
            <a:off x="930711" y="1755959"/>
            <a:ext cx="32058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Renato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Groffe</a:t>
            </a:r>
            <a:endParaRPr lang="en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6F16A1-48C6-192E-8983-3832ED54E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84" y="1138798"/>
            <a:ext cx="2064045" cy="2290202"/>
          </a:xfrm>
          <a:prstGeom prst="rect">
            <a:avLst/>
          </a:prstGeom>
        </p:spPr>
      </p:pic>
      <p:pic>
        <p:nvPicPr>
          <p:cNvPr id="7" name="Imagem 6" descr="Código QR&#10;&#10;O conteúdo gerado por IA pode estar incorreto.">
            <a:extLst>
              <a:ext uri="{FF2B5EF4-FFF2-40B4-BE49-F238E27FC236}">
                <a16:creationId xmlns:a16="http://schemas.microsoft.com/office/drawing/2014/main" id="{3BC1BF58-86BD-5BF4-5A87-B3C56CBAE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257" y="3629362"/>
            <a:ext cx="2768301" cy="2768301"/>
          </a:xfrm>
          <a:prstGeom prst="rect">
            <a:avLst/>
          </a:prstGeom>
        </p:spPr>
      </p:pic>
      <p:pic>
        <p:nvPicPr>
          <p:cNvPr id="10" name="Picture 4" descr="imagem do perfil">
            <a:extLst>
              <a:ext uri="{FF2B5EF4-FFF2-40B4-BE49-F238E27FC236}">
                <a16:creationId xmlns:a16="http://schemas.microsoft.com/office/drawing/2014/main" id="{57E67970-2B67-2880-C762-22D75F3B0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787" y="1343818"/>
            <a:ext cx="2209800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7720B589-C914-9543-258F-68CE5D8D4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9087" y="3810445"/>
            <a:ext cx="2525158" cy="2479795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2D840FD2-CD67-74DE-F8C8-C7DA0F649808}"/>
              </a:ext>
            </a:extLst>
          </p:cNvPr>
          <p:cNvSpPr txBox="1"/>
          <p:nvPr/>
        </p:nvSpPr>
        <p:spPr>
          <a:xfrm>
            <a:off x="6237736" y="1755959"/>
            <a:ext cx="32058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Milton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Câmara</a:t>
            </a:r>
            <a:endParaRPr lang="en-BR" sz="2800" dirty="0"/>
          </a:p>
        </p:txBody>
      </p:sp>
    </p:spTree>
    <p:extLst>
      <p:ext uri="{BB962C8B-B14F-4D97-AF65-F5344CB8AC3E}">
        <p14:creationId xmlns:p14="http://schemas.microsoft.com/office/powerpoint/2010/main" val="316030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435</Words>
  <Application>Microsoft Office PowerPoint</Application>
  <PresentationFormat>Widescreen</PresentationFormat>
  <Paragraphs>73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Maven Pro Black</vt:lpstr>
      <vt:lpstr>Maven Pro Regular</vt:lpstr>
      <vt:lpstr>Roboto</vt:lpstr>
      <vt:lpstr>Segoe UI</vt:lpstr>
      <vt:lpstr>Office Theme</vt:lpstr>
      <vt:lpstr>Produtividade no uso de Bancos de Dados com IAs Descomplicando tarefas do dia a dia com MCP Servers</vt:lpstr>
      <vt:lpstr>Renato Groffe</vt:lpstr>
      <vt:lpstr>Milton Câmara</vt:lpstr>
      <vt:lpstr>Apresentação do PowerPoint</vt:lpstr>
      <vt:lpstr>Conteúdos desta apresentação</vt:lpstr>
      <vt:lpstr>Agenda</vt:lpstr>
      <vt:lpstr>MCP: uma visão geral</vt:lpstr>
      <vt:lpstr>MCP: uma visão geral</vt:lpstr>
      <vt:lpstr>MCP: uma visão geral</vt:lpstr>
      <vt:lpstr>MCP: uma visão geral</vt:lpstr>
      <vt:lpstr>MCP + Produtividade com Bancos de Dados</vt:lpstr>
      <vt:lpstr>Segurança com MCPs</vt:lpstr>
      <vt:lpstr>DEMO TIME!  EXEMPLOS PRÁTICOS…</vt:lpstr>
      <vt:lpstr>Conteúdos desta apresentação</vt:lpstr>
      <vt:lpstr>Obrigado e não perca o contato!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Marcelo  Adade</dc:creator>
  <cp:lastModifiedBy>Renato Groffe</cp:lastModifiedBy>
  <cp:revision>15</cp:revision>
  <dcterms:created xsi:type="dcterms:W3CDTF">2022-10-26T21:20:52Z</dcterms:created>
  <dcterms:modified xsi:type="dcterms:W3CDTF">2026-03-28T07:35:38Z</dcterms:modified>
</cp:coreProperties>
</file>